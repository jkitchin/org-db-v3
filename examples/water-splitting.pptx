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Electrochemical Water Splitting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Hydrogen Production via Electrolysis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Water Splitting?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Water splitting is the chemical reaction to split water into oxygen and hydrogen:</a:t>
            </a:r>
          </a:p>
          <a:p>
            <a:pPr lvl="1"/>
            <a:r>
              <a:t>2H₂O → 2H₂ + O₂</a:t>
            </a:r>
          </a:p>
          <a:p>
            <a:pPr lvl="1"/>
            <a:r>
              <a:t>Requires energy input (electricity in electrolysis)</a:t>
            </a:r>
          </a:p>
          <a:p>
            <a:pPr lvl="1"/>
            <a:r>
              <a:t>Hydrogen can be used as clean fuel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Electrolysis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Components:</a:t>
            </a:r>
          </a:p>
          <a:p>
            <a:pPr lvl="1"/>
            <a:r>
              <a:t>Anode: Oxygen Evolution Reaction (OER)</a:t>
            </a:r>
          </a:p>
          <a:p>
            <a:pPr lvl="1"/>
            <a:r>
              <a:t>Cathode: Hydrogen Evolution Reaction (HER)</a:t>
            </a:r>
          </a:p>
          <a:p>
            <a:pPr lvl="1"/>
            <a:r>
              <a:t>Electrolyte: Ion transport medium</a:t>
            </a:r>
          </a:p>
          <a:p>
            <a:pPr lvl="1"/>
            <a:r>
              <a:t>Catalyst: Reduces overpotential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Electrolyzers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Alkaline Electrolyzers</a:t>
            </a:r>
          </a:p>
          <a:p>
            <a:pPr lvl="1"/>
            <a:r>
              <a:t>Use KOH or NaOH electrolyte</a:t>
            </a:r>
          </a:p>
          <a:p>
            <a:pPr lvl="1"/>
            <a:r>
              <a:t>Mature technology, cost-effective</a:t>
            </a:r>
          </a:p>
          <a:p>
            <a:pPr/>
            <a:r>
              <a:t>PEM (Proton Exchange Membrane)</a:t>
            </a:r>
          </a:p>
          <a:p>
            <a:pPr lvl="1"/>
            <a:r>
              <a:t>Use solid polymer electrolyte</a:t>
            </a:r>
          </a:p>
          <a:p>
            <a:pPr lvl="1"/>
            <a:r>
              <a:t>Higher efficiency, compact design</a:t>
            </a:r>
          </a:p>
          <a:p>
            <a:pPr/>
            <a:r>
              <a:t>Solid Oxide Electrolyzers (SOEC)</a:t>
            </a:r>
          </a:p>
          <a:p>
            <a:pPr lvl="1"/>
            <a:r>
              <a:t>High temperature operation (700-900°C)</a:t>
            </a:r>
          </a:p>
          <a:p>
            <a:pPr lvl="1"/>
            <a:r>
              <a:t>Highest efficiency potential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Catalyst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 Catalysts:</a:t>
            </a:r>
          </a:p>
          <a:p>
            <a:pPr lvl="1"/>
            <a:r>
              <a:t>Platinum (Pt) - best performance but expensive</a:t>
            </a:r>
          </a:p>
          <a:p>
            <a:pPr lvl="1"/>
            <a:r>
              <a:t>Nickel, molybdenum sulfides - alternatives</a:t>
            </a:r>
          </a:p>
          <a:p>
            <a:pPr/>
            <a:r>
              <a:t>OER Catalysts:</a:t>
            </a:r>
          </a:p>
          <a:p>
            <a:pPr lvl="1"/>
            <a:r>
              <a:t>IrO₂, RuO₂ - noble metal oxides</a:t>
            </a:r>
          </a:p>
          <a:p>
            <a:pPr lvl="1"/>
            <a:r>
              <a:t>NiFe oxides/hydroxides - earth-abundant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Efficiency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Thermodynamic voltage: 1.23 V</a:t>
            </a:r>
          </a:p>
          <a:p>
            <a:pPr lvl="1"/>
            <a:r>
              <a:t>Practical voltage: 1.8-2.0 V (due to overpotentials)</a:t>
            </a:r>
          </a:p>
          <a:p>
            <a:pPr lvl="1"/>
            <a:r>
              <a:t>Energy efficiency: 60-80%</a:t>
            </a:r>
          </a:p>
          <a:p>
            <a:pPr/>
            <a:r>
              <a:t>Challenges:</a:t>
            </a:r>
          </a:p>
          <a:p>
            <a:pPr lvl="1"/>
            <a:r>
              <a:t>Reducing catalyst cost</a:t>
            </a:r>
          </a:p>
          <a:p>
            <a:pPr lvl="1"/>
            <a:r>
              <a:t>Improving durability</a:t>
            </a:r>
          </a:p>
          <a:p>
            <a:pPr lvl="1"/>
            <a:r>
              <a:t>Scaling up production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Green hydrogen production for:</a:t>
            </a:r>
          </a:p>
          <a:p>
            <a:pPr lvl="1"/>
            <a:r>
              <a:t>Energy storage (power-to-gas)</a:t>
            </a:r>
          </a:p>
          <a:p>
            <a:pPr lvl="1"/>
            <a:r>
              <a:t>Transportation fuel cells</a:t>
            </a:r>
          </a:p>
          <a:p>
            <a:pPr lvl="1"/>
            <a:r>
              <a:t>Industrial processes (ammonia, steel)</a:t>
            </a:r>
          </a:p>
          <a:p>
            <a:pPr lvl="1"/>
            <a:r>
              <a:t>Grid balancing with renewable energy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Growing demand for clean hydrogen</a:t>
            </a:r>
          </a:p>
          <a:p>
            <a:pPr lvl="1"/>
            <a:r>
              <a:t>Cost reduction through scale and R&amp;D</a:t>
            </a:r>
          </a:p>
          <a:p>
            <a:pPr lvl="1"/>
            <a:r>
              <a:t>Integration with renewable electricity</a:t>
            </a:r>
          </a:p>
          <a:p>
            <a:pPr lvl="1"/>
            <a:r>
              <a:t>Target: &lt;$2/kg hydrogen by 2030</a:t>
            </a:r>
          </a:p>
          <a:p>
            <a:pPr lvl="1"/>
            <a:r>
              <a:t>Key role in decarbonization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